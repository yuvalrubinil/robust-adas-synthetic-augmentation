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Fraunces Medium"/>
      <p:regular r:id="rId13"/>
    </p:embeddedFont>
    <p:embeddedFont>
      <p:font typeface="Fraunces Medium"/>
      <p:regular r:id="rId14"/>
    </p:embeddedFont>
    <p:embeddedFont>
      <p:font typeface="Fraunces Medium"/>
      <p:regular r:id="rId15"/>
    </p:embeddedFont>
    <p:embeddedFont>
      <p:font typeface="Fraunces Medium"/>
      <p:regular r:id="rId16"/>
    </p:embeddedFont>
    <p:embeddedFont>
      <p:font typeface="Epilogue"/>
      <p:regular r:id="rId17"/>
    </p:embeddedFont>
    <p:embeddedFont>
      <p:font typeface="Epilogue"/>
      <p:regular r:id="rId18"/>
    </p:embeddedFont>
    <p:embeddedFont>
      <p:font typeface="Epilogue"/>
      <p:regular r:id="rId19"/>
    </p:embeddedFont>
    <p:embeddedFont>
      <p:font typeface="Epilogue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Boosting ADAS Camera Robustness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Yuval  | Shahaf | Guy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6992" y="1155978"/>
            <a:ext cx="7750016" cy="1244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Novel Approach: Simulating Real-World Obstacles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6992" y="2662952"/>
            <a:ext cx="7750016" cy="1757482"/>
          </a:xfrm>
          <a:prstGeom prst="roundRect">
            <a:avLst>
              <a:gd name="adj" fmla="val 6243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4132" y="2662952"/>
            <a:ext cx="91440" cy="1757482"/>
          </a:xfrm>
          <a:prstGeom prst="roundRect">
            <a:avLst>
              <a:gd name="adj" fmla="val 91480"/>
            </a:avLst>
          </a:prstGeom>
          <a:solidFill>
            <a:srgbClr val="8C98CA"/>
          </a:solidFill>
          <a:ln/>
        </p:spPr>
      </p:sp>
      <p:sp>
        <p:nvSpPr>
          <p:cNvPr id="6" name="Text 3"/>
          <p:cNvSpPr/>
          <p:nvPr/>
        </p:nvSpPr>
        <p:spPr>
          <a:xfrm>
            <a:off x="987504" y="2884884"/>
            <a:ext cx="3256836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Motivation &amp; Specifications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87504" y="3300889"/>
            <a:ext cx="7237571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 ADAS camera robustness by simulating lens contamination (mud, droplets, dirt) to train object detection models under adverse conditions.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6992" y="4595217"/>
            <a:ext cx="7750016" cy="2478286"/>
          </a:xfrm>
          <a:prstGeom prst="roundRect">
            <a:avLst>
              <a:gd name="adj" fmla="val 4428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4132" y="4595217"/>
            <a:ext cx="91440" cy="2478286"/>
          </a:xfrm>
          <a:prstGeom prst="roundRect">
            <a:avLst>
              <a:gd name="adj" fmla="val 91480"/>
            </a:avLst>
          </a:prstGeom>
          <a:solidFill>
            <a:srgbClr val="8C98CA"/>
          </a:solidFill>
          <a:ln/>
        </p:spPr>
      </p:sp>
      <p:sp>
        <p:nvSpPr>
          <p:cNvPr id="10" name="Text 7"/>
          <p:cNvSpPr/>
          <p:nvPr/>
        </p:nvSpPr>
        <p:spPr>
          <a:xfrm>
            <a:off x="987504" y="4817150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Contributions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87504" y="5233154"/>
            <a:ext cx="7237571" cy="1496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Application of KITTI dataset with realistic multi-type lens contamination.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augmentation simulating real-world environmental conditions.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Establishing a benchmark for ADAS performance under lens contamination.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1529715"/>
            <a:ext cx="5363170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Previous Related Work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5919" y="2480667"/>
            <a:ext cx="13258562" cy="4219218"/>
          </a:xfrm>
          <a:prstGeom prst="roundRect">
            <a:avLst>
              <a:gd name="adj" fmla="val 195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539" y="2488287"/>
            <a:ext cx="13243322" cy="5105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90111" y="2597468"/>
            <a:ext cx="1864757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Title / Year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54442" y="2597468"/>
            <a:ext cx="1860947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14963" y="2597468"/>
            <a:ext cx="1859637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Methods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74173" y="2597468"/>
            <a:ext cx="1731169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04916" y="2597468"/>
            <a:ext cx="1525905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Results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30395" y="2597468"/>
            <a:ext cx="2010489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Relation to Project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3539" y="2998827"/>
            <a:ext cx="13243322" cy="11532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90111" y="3108008"/>
            <a:ext cx="1864757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Effect of Droplet Contamination on Camera Lens Surfaces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(2025)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442" y="3108008"/>
            <a:ext cx="1860947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Quantify droplet impact on image quality +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14963" y="3108008"/>
            <a:ext cx="1859637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MTF/MTF50 + YOLOv8x mAP under controlled droplets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74173" y="3108008"/>
            <a:ext cx="1731169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Controlled lens/cover glass; varying droplet coverage; hydrophilic vs hydrophobic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04916" y="3108008"/>
            <a:ext cx="1525905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Small-object mAP can drop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up to ~90%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; hydrophilic worse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30395" y="3108008"/>
            <a:ext cx="2010489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Motivation + guides severity/coverage parameters for our synthetic contamination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3539" y="4152067"/>
            <a:ext cx="13243322" cy="11532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90111" y="4261247"/>
            <a:ext cx="1864757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Enhancing ADAS Sensor Vision in Rain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(2024)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442" y="4261247"/>
            <a:ext cx="1860947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Check if retraining helps under droplet images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14963" y="4261247"/>
            <a:ext cx="1859637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Train YOLOv3/YOLOv4 on droplet-influenced images; compare to pretrained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74173" y="4261247"/>
            <a:ext cx="1731169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Wind-tunnel rain simulation; single-class (stop sign)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04916" y="4261247"/>
            <a:ext cx="1525905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Retrained models outperform pretrained under droplets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30395" y="4261247"/>
            <a:ext cx="2010489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Supports training/evaluating on contaminated data (we use a simplified pipeline)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3539" y="5305306"/>
            <a:ext cx="13243322" cy="13869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90111" y="5414486"/>
            <a:ext cx="1864757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Impact of Raindrops on Camera-Based Detection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(2024)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54442" y="5414486"/>
            <a:ext cx="1860947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Analyze which raindrop factors hurt detection most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4963" y="5414486"/>
            <a:ext cx="1859637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Raindrop-type/density analysis; propose YOLO-RA; optional SR3+YOLO-RA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74173" y="5414486"/>
            <a:ext cx="1731169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BDD100K-based rainy data with raindrop categories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04916" y="5414486"/>
            <a:ext cx="1525905" cy="93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Density/coverage most damaging; mitigation improves metrics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30395" y="5414486"/>
            <a:ext cx="2010489" cy="11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Helps choose what to vary (density/coverage) in our contamination generator (no need to implement their model)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8849" y="427077"/>
            <a:ext cx="6165175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Building the Contaminated Dataset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218849" y="1362551"/>
            <a:ext cx="4916091" cy="1511498"/>
          </a:xfrm>
          <a:prstGeom prst="roundRect">
            <a:avLst>
              <a:gd name="adj" fmla="val 4840"/>
            </a:avLst>
          </a:prstGeom>
          <a:solidFill>
            <a:srgbClr val="080E26"/>
          </a:solidFill>
          <a:ln/>
        </p:spPr>
      </p:sp>
      <p:sp>
        <p:nvSpPr>
          <p:cNvPr id="4" name="Shape 2"/>
          <p:cNvSpPr/>
          <p:nvPr/>
        </p:nvSpPr>
        <p:spPr>
          <a:xfrm>
            <a:off x="2218849" y="1347311"/>
            <a:ext cx="4916091" cy="60960"/>
          </a:xfrm>
          <a:prstGeom prst="roundRect">
            <a:avLst>
              <a:gd name="adj" fmla="val 101775"/>
            </a:avLst>
          </a:prstGeom>
          <a:solidFill>
            <a:srgbClr val="8C98CA"/>
          </a:solidFill>
          <a:ln/>
        </p:spPr>
      </p:sp>
      <p:sp>
        <p:nvSpPr>
          <p:cNvPr id="5" name="Shape 3"/>
          <p:cNvSpPr/>
          <p:nvPr/>
        </p:nvSpPr>
        <p:spPr>
          <a:xfrm>
            <a:off x="4455319" y="1140976"/>
            <a:ext cx="443151" cy="443151"/>
          </a:xfrm>
          <a:prstGeom prst="roundRect">
            <a:avLst>
              <a:gd name="adj" fmla="val 206341"/>
            </a:avLst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4588312" y="1251704"/>
            <a:ext cx="177165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81726" y="1731764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 Creation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381726" y="2058591"/>
            <a:ext cx="4590336" cy="585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KITTI object detection images.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Contaminations: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mud, dirt, water droplets.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Labels: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same as KITTI (bounding boxes).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18849" y="3124533"/>
            <a:ext cx="4916091" cy="1477923"/>
          </a:xfrm>
          <a:prstGeom prst="roundRect">
            <a:avLst>
              <a:gd name="adj" fmla="val 4950"/>
            </a:avLst>
          </a:prstGeom>
          <a:solidFill>
            <a:srgbClr val="080E26"/>
          </a:solidFill>
          <a:ln/>
        </p:spPr>
      </p:sp>
      <p:sp>
        <p:nvSpPr>
          <p:cNvPr id="10" name="Shape 8"/>
          <p:cNvSpPr/>
          <p:nvPr/>
        </p:nvSpPr>
        <p:spPr>
          <a:xfrm>
            <a:off x="2218849" y="3109293"/>
            <a:ext cx="4916091" cy="60960"/>
          </a:xfrm>
          <a:prstGeom prst="roundRect">
            <a:avLst>
              <a:gd name="adj" fmla="val 101775"/>
            </a:avLst>
          </a:prstGeom>
          <a:solidFill>
            <a:srgbClr val="8C98CA"/>
          </a:solidFill>
          <a:ln/>
        </p:spPr>
      </p:sp>
      <p:sp>
        <p:nvSpPr>
          <p:cNvPr id="11" name="Shape 9"/>
          <p:cNvSpPr/>
          <p:nvPr/>
        </p:nvSpPr>
        <p:spPr>
          <a:xfrm>
            <a:off x="4455319" y="2902957"/>
            <a:ext cx="443151" cy="443151"/>
          </a:xfrm>
          <a:prstGeom prst="roundRect">
            <a:avLst>
              <a:gd name="adj" fmla="val 206341"/>
            </a:avLst>
          </a:prstGeom>
          <a:solidFill>
            <a:srgbClr val="8C98C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312" y="3013685"/>
            <a:ext cx="177165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81726" y="3493745"/>
            <a:ext cx="2041922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Generation Techniques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381726" y="3820572"/>
            <a:ext cx="4590336" cy="585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Alpha-blended contamination textures.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Randomized contamination levels and placement for realism.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18849" y="4886514"/>
            <a:ext cx="4916091" cy="1282779"/>
          </a:xfrm>
          <a:prstGeom prst="roundRect">
            <a:avLst>
              <a:gd name="adj" fmla="val 5703"/>
            </a:avLst>
          </a:prstGeom>
          <a:solidFill>
            <a:srgbClr val="080E26"/>
          </a:solidFill>
          <a:ln/>
        </p:spPr>
      </p:sp>
      <p:sp>
        <p:nvSpPr>
          <p:cNvPr id="16" name="Shape 14"/>
          <p:cNvSpPr/>
          <p:nvPr/>
        </p:nvSpPr>
        <p:spPr>
          <a:xfrm>
            <a:off x="2218849" y="4871274"/>
            <a:ext cx="4916091" cy="60960"/>
          </a:xfrm>
          <a:prstGeom prst="roundRect">
            <a:avLst>
              <a:gd name="adj" fmla="val 101775"/>
            </a:avLst>
          </a:prstGeom>
          <a:solidFill>
            <a:srgbClr val="8C98CA"/>
          </a:solidFill>
          <a:ln/>
        </p:spPr>
      </p:sp>
      <p:sp>
        <p:nvSpPr>
          <p:cNvPr id="17" name="Shape 15"/>
          <p:cNvSpPr/>
          <p:nvPr/>
        </p:nvSpPr>
        <p:spPr>
          <a:xfrm>
            <a:off x="4455319" y="4664939"/>
            <a:ext cx="443151" cy="443151"/>
          </a:xfrm>
          <a:prstGeom prst="roundRect">
            <a:avLst>
              <a:gd name="adj" fmla="val 206341"/>
            </a:avLst>
          </a:prstGeom>
          <a:solidFill>
            <a:srgbClr val="8C98CA"/>
          </a:solidFill>
          <a:ln/>
        </p:spPr>
      </p:sp>
      <p:sp>
        <p:nvSpPr>
          <p:cNvPr id="18" name="Text 16"/>
          <p:cNvSpPr/>
          <p:nvPr/>
        </p:nvSpPr>
        <p:spPr>
          <a:xfrm>
            <a:off x="4588312" y="4775667"/>
            <a:ext cx="177165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81726" y="5255727"/>
            <a:ext cx="287131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Exploratory Data Analysis (EDA)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381726" y="5582553"/>
            <a:ext cx="4590336" cy="390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Class distribution consistent with original KITTI.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Balanced contamination distribution across types.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02843" y="1119426"/>
            <a:ext cx="4916091" cy="19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Visualizing the impact of contamination:</a:t>
            </a:r>
            <a:endParaRPr lang="en-US" sz="11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2843" y="1422678"/>
            <a:ext cx="4916091" cy="1489472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843" y="2953083"/>
            <a:ext cx="4916091" cy="1489472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843" y="4517063"/>
            <a:ext cx="4916091" cy="1484233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843" y="6075813"/>
            <a:ext cx="4916091" cy="1484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662"/>
            <a:ext cx="8927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Baseline Performance &amp; Analysis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32754"/>
            <a:ext cx="3688675" cy="3210282"/>
          </a:xfrm>
          <a:prstGeom prst="roundRect">
            <a:avLst>
              <a:gd name="adj" fmla="val 29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267188"/>
            <a:ext cx="321980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Baseline Model: Pretrained YOLOv8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202662"/>
            <a:ext cx="321980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Utilized a pretrained YOLOv8 model on KITTI, with minimal adaptation to contaminated images initially.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709279" y="2032754"/>
            <a:ext cx="3688794" cy="3210282"/>
          </a:xfrm>
          <a:prstGeom prst="roundRect">
            <a:avLst>
              <a:gd name="adj" fmla="val 29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43713" y="2267188"/>
            <a:ext cx="321992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Observation: Significant Accuracy Drop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43713" y="3556992"/>
            <a:ext cx="321992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Performance reduced with heavy contamination, highlighting the need for specialized training.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469850"/>
            <a:ext cx="7604284" cy="1775817"/>
          </a:xfrm>
          <a:prstGeom prst="roundRect">
            <a:avLst>
              <a:gd name="adj" fmla="val 536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704284"/>
            <a:ext cx="41639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Error Analysis: False Negatives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6285428"/>
            <a:ext cx="71354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Mostly on objects partially occluded by contamination, confirming the necessity for data augmentation.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032754"/>
            <a:ext cx="4885015" cy="1474827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096" y="3762732"/>
            <a:ext cx="4885015" cy="147482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5492710"/>
            <a:ext cx="4885015" cy="1436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5886" y="1293971"/>
            <a:ext cx="6245304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Roadmap &amp; Next Steps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1375886" y="2351246"/>
            <a:ext cx="3872389" cy="2339935"/>
          </a:xfrm>
          <a:prstGeom prst="roundRect">
            <a:avLst>
              <a:gd name="adj" fmla="val 4689"/>
            </a:avLst>
          </a:prstGeom>
          <a:solidFill>
            <a:srgbClr val="080E26"/>
          </a:solidFill>
          <a:ln/>
        </p:spPr>
      </p:sp>
      <p:sp>
        <p:nvSpPr>
          <p:cNvPr id="4" name="Shape 2"/>
          <p:cNvSpPr/>
          <p:nvPr/>
        </p:nvSpPr>
        <p:spPr>
          <a:xfrm>
            <a:off x="1375886" y="2328386"/>
            <a:ext cx="3872389" cy="91440"/>
          </a:xfrm>
          <a:prstGeom prst="roundRect">
            <a:avLst>
              <a:gd name="adj" fmla="val 79073"/>
            </a:avLst>
          </a:prstGeom>
          <a:solidFill>
            <a:srgbClr val="8C98CA"/>
          </a:solidFill>
          <a:ln/>
        </p:spPr>
      </p:sp>
      <p:sp>
        <p:nvSpPr>
          <p:cNvPr id="5" name="Shape 3"/>
          <p:cNvSpPr/>
          <p:nvPr/>
        </p:nvSpPr>
        <p:spPr>
          <a:xfrm>
            <a:off x="3053894" y="2093119"/>
            <a:ext cx="516374" cy="516374"/>
          </a:xfrm>
          <a:prstGeom prst="roundRect">
            <a:avLst>
              <a:gd name="adj" fmla="val 177081"/>
            </a:avLst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3208794" y="2222183"/>
            <a:ext cx="20657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36113" y="2781538"/>
            <a:ext cx="215181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 Generation 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70792" y="3128724"/>
            <a:ext cx="348257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-week 9-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70792" y="3449241"/>
            <a:ext cx="3482578" cy="48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Description: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Create full contaminated KITTI dataset (mud, droplets, mixed).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70792" y="4011930"/>
            <a:ext cx="3482578" cy="48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Outcome: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Complete labeled dataset for training.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78887" y="2351246"/>
            <a:ext cx="3872389" cy="2339935"/>
          </a:xfrm>
          <a:prstGeom prst="roundRect">
            <a:avLst>
              <a:gd name="adj" fmla="val 4689"/>
            </a:avLst>
          </a:prstGeom>
          <a:solidFill>
            <a:srgbClr val="080E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378887" y="2328386"/>
            <a:ext cx="3872389" cy="91440"/>
          </a:xfrm>
          <a:prstGeom prst="roundRect">
            <a:avLst>
              <a:gd name="adj" fmla="val 79073"/>
            </a:avLst>
          </a:prstGeom>
          <a:solidFill>
            <a:srgbClr val="8C98CA"/>
          </a:solidFill>
          <a:ln/>
        </p:spPr>
      </p:sp>
      <p:sp>
        <p:nvSpPr>
          <p:cNvPr id="13" name="Shape 11"/>
          <p:cNvSpPr/>
          <p:nvPr/>
        </p:nvSpPr>
        <p:spPr>
          <a:xfrm>
            <a:off x="7056894" y="2093119"/>
            <a:ext cx="516374" cy="516374"/>
          </a:xfrm>
          <a:prstGeom prst="roundRect">
            <a:avLst>
              <a:gd name="adj" fmla="val 177081"/>
            </a:avLst>
          </a:prstGeom>
          <a:solidFill>
            <a:srgbClr val="8C98CA"/>
          </a:solidFill>
          <a:ln/>
        </p:spPr>
      </p:sp>
      <p:sp>
        <p:nvSpPr>
          <p:cNvPr id="14" name="Text 12"/>
          <p:cNvSpPr/>
          <p:nvPr/>
        </p:nvSpPr>
        <p:spPr>
          <a:xfrm>
            <a:off x="7211794" y="2222183"/>
            <a:ext cx="20657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39113" y="2781538"/>
            <a:ext cx="215181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 Training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573792" y="3128724"/>
            <a:ext cx="348257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-week 10-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73792" y="3449241"/>
            <a:ext cx="3482578" cy="48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Description: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Fine-tune YOLOv8 on the newly contaminated dataset.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73792" y="4011930"/>
            <a:ext cx="3482578" cy="48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Outcome: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Improved detection under various contamination scenarios.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381887" y="2351246"/>
            <a:ext cx="3872508" cy="2339935"/>
          </a:xfrm>
          <a:prstGeom prst="roundRect">
            <a:avLst>
              <a:gd name="adj" fmla="val 4689"/>
            </a:avLst>
          </a:prstGeom>
          <a:solidFill>
            <a:srgbClr val="080E26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1887" y="2328386"/>
            <a:ext cx="3872508" cy="91440"/>
          </a:xfrm>
          <a:prstGeom prst="roundRect">
            <a:avLst>
              <a:gd name="adj" fmla="val 79073"/>
            </a:avLst>
          </a:prstGeom>
          <a:solidFill>
            <a:srgbClr val="8C98C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59894" y="2093119"/>
            <a:ext cx="516374" cy="516374"/>
          </a:xfrm>
          <a:prstGeom prst="roundRect">
            <a:avLst>
              <a:gd name="adj" fmla="val 177081"/>
            </a:avLst>
          </a:prstGeom>
          <a:solidFill>
            <a:srgbClr val="8C98CA"/>
          </a:solidFill>
          <a:ln/>
        </p:spPr>
      </p:sp>
      <p:sp>
        <p:nvSpPr>
          <p:cNvPr id="22" name="Text 20"/>
          <p:cNvSpPr/>
          <p:nvPr/>
        </p:nvSpPr>
        <p:spPr>
          <a:xfrm>
            <a:off x="11214795" y="2222183"/>
            <a:ext cx="20657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2233" y="2781538"/>
            <a:ext cx="215181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Evaluation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576792" y="3128724"/>
            <a:ext cx="3482697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-week 11-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76792" y="3449241"/>
            <a:ext cx="3482697" cy="48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Description: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Evaluate model on both contaminated and clean images.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576792" y="4011930"/>
            <a:ext cx="3482697" cy="48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Outcome: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Quantitative performance analysis and benchmark.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375886" y="5079921"/>
            <a:ext cx="5873948" cy="1855589"/>
          </a:xfrm>
          <a:prstGeom prst="roundRect">
            <a:avLst>
              <a:gd name="adj" fmla="val 5913"/>
            </a:avLst>
          </a:prstGeom>
          <a:solidFill>
            <a:srgbClr val="080E2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5886" y="5057061"/>
            <a:ext cx="5873948" cy="91440"/>
          </a:xfrm>
          <a:prstGeom prst="roundRect">
            <a:avLst>
              <a:gd name="adj" fmla="val 79073"/>
            </a:avLst>
          </a:prstGeom>
          <a:solidFill>
            <a:srgbClr val="8C98CA"/>
          </a:solidFill>
          <a:ln/>
        </p:spPr>
      </p:sp>
      <p:sp>
        <p:nvSpPr>
          <p:cNvPr id="29" name="Shape 27"/>
          <p:cNvSpPr/>
          <p:nvPr/>
        </p:nvSpPr>
        <p:spPr>
          <a:xfrm>
            <a:off x="4054614" y="4821793"/>
            <a:ext cx="516374" cy="516374"/>
          </a:xfrm>
          <a:prstGeom prst="roundRect">
            <a:avLst>
              <a:gd name="adj" fmla="val 177081"/>
            </a:avLst>
          </a:prstGeom>
          <a:solidFill>
            <a:srgbClr val="8C98CA"/>
          </a:solidFill>
          <a:ln/>
        </p:spPr>
      </p:sp>
      <p:sp>
        <p:nvSpPr>
          <p:cNvPr id="30" name="Text 28"/>
          <p:cNvSpPr/>
          <p:nvPr/>
        </p:nvSpPr>
        <p:spPr>
          <a:xfrm>
            <a:off x="4209514" y="4950857"/>
            <a:ext cx="20657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36952" y="5510213"/>
            <a:ext cx="215181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Optimization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570792" y="5857399"/>
            <a:ext cx="548413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-week 12-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570792" y="6177915"/>
            <a:ext cx="548413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Description: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Adjust data augmentation and hyperparameters.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570792" y="6498431"/>
            <a:ext cx="548413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Outcome: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Maximized accuracy under all contamination types.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380446" y="5079921"/>
            <a:ext cx="5873948" cy="1855589"/>
          </a:xfrm>
          <a:prstGeom prst="roundRect">
            <a:avLst>
              <a:gd name="adj" fmla="val 5913"/>
            </a:avLst>
          </a:prstGeom>
          <a:solidFill>
            <a:srgbClr val="080E26"/>
          </a:solidFill>
          <a:ln/>
        </p:spPr>
      </p:sp>
      <p:sp>
        <p:nvSpPr>
          <p:cNvPr id="36" name="Shape 34"/>
          <p:cNvSpPr/>
          <p:nvPr/>
        </p:nvSpPr>
        <p:spPr>
          <a:xfrm>
            <a:off x="7380446" y="5057061"/>
            <a:ext cx="5873948" cy="91440"/>
          </a:xfrm>
          <a:prstGeom prst="roundRect">
            <a:avLst>
              <a:gd name="adj" fmla="val 79073"/>
            </a:avLst>
          </a:prstGeom>
          <a:solidFill>
            <a:srgbClr val="8C98C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59174" y="4821793"/>
            <a:ext cx="516374" cy="516374"/>
          </a:xfrm>
          <a:prstGeom prst="roundRect">
            <a:avLst>
              <a:gd name="adj" fmla="val 177081"/>
            </a:avLst>
          </a:prstGeom>
          <a:solidFill>
            <a:srgbClr val="8C98CA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4074" y="4950857"/>
            <a:ext cx="206573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41512" y="5510213"/>
            <a:ext cx="215181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Final Presentation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575352" y="5857399"/>
            <a:ext cx="548413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-week 13-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575352" y="6177915"/>
            <a:ext cx="548413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Description: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Prepare comprehensive slides &amp; visualizations.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575352" y="6498431"/>
            <a:ext cx="548413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Outcome:</a:t>
            </a:r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Showcase results and future implications.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2026-02-01T09:54:26Z</dcterms:created>
  <dcterms:modified xsi:type="dcterms:W3CDTF">2026-02-01T09:54:26Z</dcterms:modified>
</cp:coreProperties>
</file>